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300" r:id="rId2"/>
    <p:sldId id="267" r:id="rId3"/>
    <p:sldId id="291" r:id="rId4"/>
    <p:sldId id="297" r:id="rId5"/>
    <p:sldId id="303" r:id="rId6"/>
    <p:sldId id="301" r:id="rId7"/>
    <p:sldId id="312" r:id="rId8"/>
    <p:sldId id="302" r:id="rId9"/>
    <p:sldId id="304" r:id="rId10"/>
    <p:sldId id="298" r:id="rId11"/>
    <p:sldId id="305" r:id="rId12"/>
    <p:sldId id="299" r:id="rId13"/>
    <p:sldId id="306" r:id="rId14"/>
    <p:sldId id="311" r:id="rId15"/>
    <p:sldId id="307" r:id="rId16"/>
    <p:sldId id="292" r:id="rId17"/>
    <p:sldId id="293" r:id="rId18"/>
    <p:sldId id="294" r:id="rId19"/>
    <p:sldId id="295" r:id="rId20"/>
    <p:sldId id="310" r:id="rId21"/>
    <p:sldId id="308" r:id="rId22"/>
    <p:sldId id="296" r:id="rId23"/>
    <p:sldId id="309" r:id="rId24"/>
    <p:sldId id="26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44" autoAdjust="0"/>
    <p:restoredTop sz="94660"/>
  </p:normalViewPr>
  <p:slideViewPr>
    <p:cSldViewPr snapToGrid="0">
      <p:cViewPr varScale="1">
        <p:scale>
          <a:sx n="84" d="100"/>
          <a:sy n="84" d="100"/>
        </p:scale>
        <p:origin x="1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6/19/2026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42A2FB-80C5-418C-AB6B-D3A7BD18C0A7}"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342A2FB-80C5-418C-AB6B-D3A7BD18C0A7}"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342A2FB-80C5-418C-AB6B-D3A7BD18C0A7}" type="datetimeFigureOut">
              <a:rPr lang="en-IN" smtClean="0"/>
              <a:t>19-06-2026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342A2FB-80C5-418C-AB6B-D3A7BD18C0A7}" type="datetimeFigureOut">
              <a:rPr lang="en-IN" smtClean="0"/>
              <a:t>19-06-2026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42A2FB-80C5-418C-AB6B-D3A7BD18C0A7}" type="datetimeFigureOut">
              <a:rPr lang="en-IN" smtClean="0"/>
              <a:t>19-06-2026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42A2FB-80C5-418C-AB6B-D3A7BD18C0A7}"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342A2FB-80C5-418C-AB6B-D3A7BD18C0A7}" type="datetimeFigureOut">
              <a:rPr lang="en-IN" smtClean="0"/>
              <a:t>19-06-2026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342A2FB-80C5-418C-AB6B-D3A7BD18C0A7}" type="datetimeFigureOut">
              <a:rPr lang="en-IN" smtClean="0"/>
              <a:t>19-06-2026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349249-FC48-47B8-92FA-4330554B372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42A2FB-80C5-418C-AB6B-D3A7BD18C0A7}" type="datetimeFigureOut">
              <a:rPr lang="en-IN" smtClean="0"/>
              <a:t>19-06-2026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349249-FC48-47B8-92FA-4330554B372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jp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12.jpg"/><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17.jp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15.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7048" y="272099"/>
            <a:ext cx="1196340" cy="109359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6" name="TextBox 5"/>
          <p:cNvSpPr txBox="1"/>
          <p:nvPr/>
        </p:nvSpPr>
        <p:spPr>
          <a:xfrm>
            <a:off x="645414" y="1997293"/>
            <a:ext cx="10762488" cy="492443"/>
          </a:xfrm>
          <a:prstGeom prst="rect">
            <a:avLst/>
          </a:prstGeom>
        </p:spPr>
        <p:txBody>
          <a:bodyPr wrap="square" lIns="0" tIns="0" rIns="0" bIns="0" rtlCol="0" anchor="t">
            <a:spAutoFit/>
          </a:bodyPr>
          <a:lstStyle/>
          <a:p>
            <a:pPr algn="ctr"/>
            <a:r>
              <a:rPr lang="en-US" sz="3200" b="1" dirty="0">
                <a:latin typeface="Times New Roman" panose="02020603050405020304" pitchFamily="18" charset="0"/>
                <a:cs typeface="Times New Roman" panose="02020603050405020304" pitchFamily="18" charset="0"/>
              </a:rPr>
              <a:t>GPS BASED LPG LEAKAGE NOTIFICATION SYSTEM</a:t>
            </a:r>
            <a:endParaRPr lang="en-IN" sz="3200" b="1" dirty="0">
              <a:latin typeface="Times New Roman" panose="02020603050405020304" pitchFamily="18" charset="0"/>
              <a:cs typeface="Times New Roman" panose="02020603050405020304" pitchFamily="18" charset="0"/>
            </a:endParaRPr>
          </a:p>
        </p:txBody>
      </p:sp>
      <p:sp>
        <p:nvSpPr>
          <p:cNvPr id="7" name="TextBox 6"/>
          <p:cNvSpPr txBox="1"/>
          <p:nvPr/>
        </p:nvSpPr>
        <p:spPr>
          <a:xfrm>
            <a:off x="7165848" y="4368264"/>
            <a:ext cx="4437888" cy="1519903"/>
          </a:xfrm>
          <a:prstGeom prst="rect">
            <a:avLst/>
          </a:prstGeom>
        </p:spPr>
        <p:txBody>
          <a:bodyPr wrap="square" lIns="0" tIns="0" rIns="0" bIns="0" rtlCol="0" anchor="t">
            <a:spAutoFit/>
          </a:bodyPr>
          <a:lstStyle/>
          <a:p>
            <a:pPr>
              <a:lnSpc>
                <a:spcPct val="150000"/>
              </a:lnSpc>
            </a:pPr>
            <a:r>
              <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rPr>
              <a:t>Presented By</a:t>
            </a:r>
          </a:p>
          <a:p>
            <a:pPr>
              <a:lnSpc>
                <a:spcPct val="150000"/>
              </a:lnSpc>
            </a:pPr>
            <a:r>
              <a:rPr lang="en-US" b="1" dirty="0">
                <a:latin typeface="Times New Roman" panose="02020603050405020304" pitchFamily="18" charset="0"/>
                <a:ea typeface="League Spartan"/>
                <a:cs typeface="Times New Roman" panose="02020603050405020304" pitchFamily="18" charset="0"/>
                <a:sym typeface="League Spartan"/>
              </a:rPr>
              <a:t>DINESH S (927623BEC049)</a:t>
            </a:r>
          </a:p>
          <a:p>
            <a:pPr>
              <a:lnSpc>
                <a:spcPct val="150000"/>
              </a:lnSpc>
            </a:pPr>
            <a:r>
              <a:rPr lang="en-US" b="1" dirty="0">
                <a:latin typeface="Times New Roman" panose="02020603050405020304" pitchFamily="18" charset="0"/>
                <a:ea typeface="League Spartan"/>
                <a:cs typeface="Times New Roman" panose="02020603050405020304" pitchFamily="18" charset="0"/>
                <a:sym typeface="League Spartan"/>
              </a:rPr>
              <a:t>GOBIKRISHNAN A(927623BEC055)</a:t>
            </a:r>
          </a:p>
        </p:txBody>
      </p:sp>
      <p:sp>
        <p:nvSpPr>
          <p:cNvPr id="8" name="TextBox 7"/>
          <p:cNvSpPr txBox="1"/>
          <p:nvPr/>
        </p:nvSpPr>
        <p:spPr>
          <a:xfrm>
            <a:off x="223520" y="4368264"/>
            <a:ext cx="3837432" cy="1226298"/>
          </a:xfrm>
          <a:prstGeom prst="rect">
            <a:avLst/>
          </a:prstGeom>
        </p:spPr>
        <p:txBody>
          <a:bodyPr wrap="square" lIns="0" tIns="0" rIns="0" bIns="0" rtlCol="0" anchor="t">
            <a:spAutoFit/>
          </a:bodyPr>
          <a:lstStyle/>
          <a:p>
            <a:pPr algn="ctr">
              <a:lnSpc>
                <a:spcPct val="150000"/>
              </a:lnSpc>
            </a:pPr>
            <a:r>
              <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rPr>
              <a:t>Guided By</a:t>
            </a:r>
          </a:p>
          <a:p>
            <a:pPr algn="ctr">
              <a:lnSpc>
                <a:spcPct val="150000"/>
              </a:lnSpc>
            </a:pPr>
            <a:r>
              <a:rPr lang="en-US" sz="2400" b="1" dirty="0" err="1">
                <a:solidFill>
                  <a:schemeClr val="tx1">
                    <a:lumMod val="95000"/>
                    <a:lumOff val="5000"/>
                  </a:schemeClr>
                </a:solidFill>
                <a:latin typeface="Times New Roman" panose="02020603050405020304" pitchFamily="18" charset="0"/>
                <a:ea typeface="League Spartan"/>
                <a:cs typeface="Times New Roman" panose="02020603050405020304" pitchFamily="18" charset="0"/>
                <a:sym typeface="League Spartan"/>
              </a:rPr>
              <a:t>Dr.C</a:t>
            </a:r>
            <a:r>
              <a:rPr lang="en-US" sz="2400" b="1" dirty="0">
                <a:solidFill>
                  <a:schemeClr val="tx1">
                    <a:lumMod val="95000"/>
                    <a:lumOff val="5000"/>
                  </a:schemeClr>
                </a:solidFill>
                <a:latin typeface="Times New Roman" panose="02020603050405020304" pitchFamily="18" charset="0"/>
                <a:ea typeface="League Spartan"/>
                <a:cs typeface="Times New Roman" panose="02020603050405020304" pitchFamily="18" charset="0"/>
                <a:sym typeface="League Spartan"/>
              </a:rPr>
              <a:t> Nandagopal</a:t>
            </a:r>
            <a:endParaRPr lang="en-US" sz="3200" b="1" dirty="0">
              <a:solidFill>
                <a:srgbClr val="004AAD"/>
              </a:solidFill>
              <a:latin typeface="Times New Roman" panose="02020603050405020304" pitchFamily="18" charset="0"/>
              <a:ea typeface="League Spartan"/>
              <a:cs typeface="Times New Roman" panose="02020603050405020304" pitchFamily="18" charset="0"/>
              <a:sym typeface="League Spart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271304" y="1124285"/>
            <a:ext cx="5576163" cy="461665"/>
          </a:xfrm>
          <a:prstGeom prst="rect">
            <a:avLst/>
          </a:prstGeom>
          <a:noFill/>
        </p:spPr>
        <p:txBody>
          <a:bodyPr wrap="square" rtlCol="0">
            <a:spAutoFit/>
          </a:bodyPr>
          <a:lstStyle/>
          <a:p>
            <a:pPr algn="just"/>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INTRODUCTION</a:t>
            </a:r>
          </a:p>
        </p:txBody>
      </p:sp>
      <p:pic>
        <p:nvPicPr>
          <p:cNvPr id="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0"/>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9889" y="170920"/>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5E3F72A-DB7F-4C3E-8A88-CBCF369F589E}"/>
              </a:ext>
            </a:extLst>
          </p:cNvPr>
          <p:cNvSpPr txBox="1"/>
          <p:nvPr/>
        </p:nvSpPr>
        <p:spPr>
          <a:xfrm>
            <a:off x="939927" y="2031864"/>
            <a:ext cx="10092690" cy="3366563"/>
          </a:xfrm>
          <a:prstGeom prst="rect">
            <a:avLst/>
          </a:prstGeom>
          <a:noFill/>
        </p:spPr>
        <p:txBody>
          <a:bodyPr wrap="square">
            <a:spAutoFit/>
          </a:bodyPr>
          <a:lstStyle/>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LPG is widely used in homes, hotels, and industries due to its efficiency and easy availability, but it is highly inflammable and can cause serious accidents if leakage goes undetected.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Traditional gas detection methods rely on human senses and manual checks, which are slow and unreliable, especially during emergencies.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overcome this, an IoT-Based LPG Leakage Alert System with Real-Time GPS Tracking is proposed. </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uses an MQ-2 gas sensor and ESP32 microcontroller to continuously monitor gas levels and trigger a buzzer, SMS, and call alerts through a GSM module when leakage exceeds safe limits, ensuring quick response and enhanced safety.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345" y="934085"/>
            <a:ext cx="10671810" cy="756920"/>
          </a:xfrm>
        </p:spPr>
        <p:txBody>
          <a:bodyPr>
            <a:normAutofit fontScale="90000"/>
          </a:bodyPr>
          <a:lstStyle/>
          <a:p>
            <a:br>
              <a:rPr lang="en-US" sz="2665" b="1" dirty="0">
                <a:solidFill>
                  <a:srgbClr val="FF0000"/>
                </a:solidFill>
                <a:latin typeface="Times New Roman" panose="02020603050405020304" pitchFamily="18" charset="0"/>
                <a:cs typeface="Times New Roman" panose="02020603050405020304" pitchFamily="18" charset="0"/>
              </a:rPr>
            </a:br>
            <a:br>
              <a:rPr lang="en-US" sz="2665" b="1" dirty="0">
                <a:solidFill>
                  <a:srgbClr val="FF0000"/>
                </a:solidFill>
                <a:latin typeface="Times New Roman" panose="02020603050405020304" pitchFamily="18" charset="0"/>
                <a:cs typeface="Times New Roman" panose="02020603050405020304" pitchFamily="18" charset="0"/>
              </a:rPr>
            </a:br>
            <a:br>
              <a:rPr lang="en-US" sz="2665" b="1" dirty="0">
                <a:solidFill>
                  <a:srgbClr val="FF0000"/>
                </a:solidFill>
                <a:latin typeface="Times New Roman" panose="02020603050405020304" pitchFamily="18" charset="0"/>
                <a:cs typeface="Times New Roman" panose="02020603050405020304" pitchFamily="18" charset="0"/>
              </a:rPr>
            </a:br>
            <a:r>
              <a:rPr lang="en-US" sz="2665" b="1" dirty="0">
                <a:solidFill>
                  <a:srgbClr val="FF0000"/>
                </a:solidFill>
                <a:latin typeface="Times New Roman" panose="02020603050405020304" pitchFamily="18" charset="0"/>
                <a:cs typeface="Times New Roman" panose="02020603050405020304" pitchFamily="18" charset="0"/>
              </a:rPr>
              <a:t>OBJECTIVE</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027682"/>
            <a:ext cx="10515600" cy="4351338"/>
          </a:xfrm>
        </p:spPr>
        <p:txBody>
          <a:bodyPr>
            <a:normAutofit/>
          </a:bodyPr>
          <a:lstStyle/>
          <a:p>
            <a:pPr algn="just">
              <a:lnSpc>
                <a:spcPct val="150000"/>
              </a:lnSpc>
              <a:buFont typeface="Wingdings" panose="05000000000000000000" charset="0"/>
              <a:buChar char="Ø"/>
            </a:pPr>
            <a:r>
              <a:rPr lang="en-US" sz="1800" dirty="0">
                <a:latin typeface="Times New Roman" panose="02020603050405020304" pitchFamily="18" charset="0"/>
                <a:cs typeface="Times New Roman" panose="02020603050405020304" pitchFamily="18" charset="0"/>
              </a:rPr>
              <a:t>The objective of this project is to design and develop an efficient IoT-based LPG leakage detection and alert system that ensures maximum safety in residential and industrial environments.</a:t>
            </a:r>
          </a:p>
          <a:p>
            <a:pPr algn="just">
              <a:lnSpc>
                <a:spcPct val="150000"/>
              </a:lnSpc>
              <a:buFont typeface="Wingdings" panose="05000000000000000000" charset="0"/>
              <a:buChar char="Ø"/>
            </a:pPr>
            <a:r>
              <a:rPr lang="en-US" sz="1800" dirty="0">
                <a:latin typeface="Times New Roman" panose="02020603050405020304" pitchFamily="18" charset="0"/>
                <a:cs typeface="Times New Roman" panose="02020603050405020304" pitchFamily="18" charset="0"/>
              </a:rPr>
              <a:t> The system aims to continuously monitor gas levels using the MQ-2 sensor and immediately alert users through a buzzer, SMS, call notifications, and real-time GPS location sharing. </a:t>
            </a:r>
          </a:p>
          <a:p>
            <a:pPr algn="just">
              <a:lnSpc>
                <a:spcPct val="150000"/>
              </a:lnSpc>
              <a:buFont typeface="Wingdings" panose="05000000000000000000" charset="0"/>
              <a:buChar char="Ø"/>
            </a:pPr>
            <a:r>
              <a:rPr lang="en-US" sz="1800" dirty="0">
                <a:latin typeface="Times New Roman" panose="02020603050405020304" pitchFamily="18" charset="0"/>
                <a:cs typeface="Times New Roman" panose="02020603050405020304" pitchFamily="18" charset="0"/>
              </a:rPr>
              <a:t>By integrating ESP32, GSM, and GPS modules, the project focuses on enabling quick detection, fast emergency response, and enhanced protection of life and property. </a:t>
            </a:r>
          </a:p>
          <a:p>
            <a:pPr algn="just">
              <a:lnSpc>
                <a:spcPct val="150000"/>
              </a:lnSpc>
              <a:buFont typeface="Wingdings" panose="05000000000000000000" charset="0"/>
              <a:buChar char="Ø"/>
            </a:pPr>
            <a:r>
              <a:rPr lang="en-US" sz="1800" dirty="0">
                <a:latin typeface="Times New Roman" panose="02020603050405020304" pitchFamily="18" charset="0"/>
                <a:cs typeface="Times New Roman" panose="02020603050405020304" pitchFamily="18" charset="0"/>
              </a:rPr>
              <a:t>Overall, the objective is to create a reliable, cost-effective, and automated safety solution that prevents accidents and strengthens infrastructure safety.</a:t>
            </a:r>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830" y="79514"/>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845" y="365125"/>
            <a:ext cx="10515600" cy="1325563"/>
          </a:xfrm>
        </p:spPr>
        <p:txBody>
          <a:bodyPr>
            <a:normAutofit fontScale="90000"/>
          </a:bodyPr>
          <a:lstStyle/>
          <a:p>
            <a:br>
              <a:rPr lang="en-US" dirty="0"/>
            </a:br>
            <a:br>
              <a:rPr lang="en-US" dirty="0"/>
            </a:br>
            <a:r>
              <a:rPr lang="en-US" sz="2665" b="1" dirty="0">
                <a:solidFill>
                  <a:srgbClr val="FF0000"/>
                </a:solidFill>
                <a:latin typeface="Times New Roman" panose="02020603050405020304" pitchFamily="18" charset="0"/>
                <a:cs typeface="Times New Roman" panose="02020603050405020304" pitchFamily="18" charset="0"/>
              </a:rPr>
              <a:t>SCOPE OF THE PROJECT</a:t>
            </a:r>
          </a:p>
        </p:txBody>
      </p:sp>
      <p:sp>
        <p:nvSpPr>
          <p:cNvPr id="3" name="Content Placeholder 2"/>
          <p:cNvSpPr>
            <a:spLocks noGrp="1"/>
          </p:cNvSpPr>
          <p:nvPr>
            <p:ph idx="1"/>
          </p:nvPr>
        </p:nvSpPr>
        <p:spPr>
          <a:xfrm>
            <a:off x="838200" y="1976299"/>
            <a:ext cx="10515600" cy="4351338"/>
          </a:xfrm>
        </p:spPr>
        <p:txBody>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The scope of this project includes designing and implementing an IoT-based LPG leakage detection and alert system capable of providing real-time monitoring and rapid emergency notifications. The system covers continuous gas level detection using the MQ-2 sensor, real-time alerting through GSM calls and SMS, and precise location tracking using the NEO-6M GPS module. It also includes local safety features such as a buzzer alarm and LCD status display to warn nearby individuals. The project is applicable to households, hotels, restaurants, industrial gas storage areas, and fuel stations where LPG is frequently used. Additionally, the system’s low cost, portability, and simple installation make it suitable for smart home automation and safety infrastructure. The project also lays the foundation for future advancements such as mobile app integration, cloud data storage, and AI-based predictive safety systems.</a:t>
            </a:r>
            <a:endParaRPr lang="en-US" altLang="en-US" sz="1800" dirty="0">
              <a:latin typeface="Times New Roman" panose="02020603050405020304" pitchFamily="18" charset="0"/>
              <a:cs typeface="Times New Roman" panose="02020603050405020304" pitchFamily="18" charset="0"/>
            </a:endParaRPr>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830" y="79514"/>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10955" y="1087625"/>
            <a:ext cx="3511550" cy="413385"/>
          </a:xfrm>
          <a:prstGeom prst="rect">
            <a:avLst/>
          </a:prstGeom>
          <a:noFill/>
        </p:spPr>
        <p:txBody>
          <a:bodyPr wrap="square" rtlCol="0" anchor="t">
            <a:noAutofit/>
          </a:bodyPr>
          <a:lstStyle/>
          <a:p>
            <a:r>
              <a:rPr lang="en-US" sz="2400" b="1" dirty="0">
                <a:solidFill>
                  <a:srgbClr val="FF0000"/>
                </a:solidFill>
                <a:latin typeface="Times New Roman" panose="02020603050405020304" pitchFamily="18" charset="0"/>
                <a:cs typeface="Times New Roman" panose="02020603050405020304" pitchFamily="18" charset="0"/>
                <a:sym typeface="+mn-ea"/>
              </a:rPr>
              <a:t>LITERATURE SURVEY</a:t>
            </a:r>
          </a:p>
        </p:txBody>
      </p:sp>
      <p:pic>
        <p:nvPicPr>
          <p:cNvPr id="7" name="Picture 6">
            <a:extLst>
              <a:ext uri="{FF2B5EF4-FFF2-40B4-BE49-F238E27FC236}">
                <a16:creationId xmlns:a16="http://schemas.microsoft.com/office/drawing/2014/main" id="{EC7779D4-3E91-A829-5F47-922DF1F610C9}"/>
              </a:ext>
            </a:extLst>
          </p:cNvPr>
          <p:cNvPicPr>
            <a:picLocks noChangeAspect="1"/>
          </p:cNvPicPr>
          <p:nvPr/>
        </p:nvPicPr>
        <p:blipFill>
          <a:blip r:embed="rId5"/>
          <a:stretch>
            <a:fillRect/>
          </a:stretch>
        </p:blipFill>
        <p:spPr>
          <a:xfrm>
            <a:off x="410955" y="1630680"/>
            <a:ext cx="11537205" cy="47243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11480" y="1179195"/>
            <a:ext cx="4324350" cy="385445"/>
          </a:xfrm>
          <a:prstGeom prst="rect">
            <a:avLst/>
          </a:prstGeom>
          <a:noFill/>
        </p:spPr>
        <p:txBody>
          <a:bodyPr wrap="square" rtlCol="0">
            <a:noAutofit/>
          </a:bodyPr>
          <a:lstStyle/>
          <a:p>
            <a:r>
              <a:rPr lang="en-US" b="1" dirty="0">
                <a:solidFill>
                  <a:srgbClr val="FF0000"/>
                </a:solidFill>
                <a:latin typeface="Times New Roman" panose="02020603050405020304" pitchFamily="18" charset="0"/>
                <a:cs typeface="Times New Roman" panose="02020603050405020304" pitchFamily="18" charset="0"/>
                <a:sym typeface="+mn-ea"/>
              </a:rPr>
              <a:t>EXISTING SYSTEM</a:t>
            </a:r>
            <a:endParaRPr lang="en-US" dirty="0"/>
          </a:p>
        </p:txBody>
      </p:sp>
      <p:sp>
        <p:nvSpPr>
          <p:cNvPr id="8" name="Text Box 7"/>
          <p:cNvSpPr txBox="1"/>
          <p:nvPr/>
        </p:nvSpPr>
        <p:spPr>
          <a:xfrm>
            <a:off x="836436" y="1843671"/>
            <a:ext cx="10182084" cy="3446145"/>
          </a:xfrm>
          <a:prstGeom prst="rect">
            <a:avLst/>
          </a:prstGeom>
          <a:noFill/>
        </p:spPr>
        <p:txBody>
          <a:bodyPr wrap="square" rtlCol="0">
            <a:noAutofit/>
          </a:bodyPr>
          <a:lstStyle/>
          <a:p>
            <a:pPr marL="285750" indent="-285750">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Existing LPG leakage detection systems mainly rely on gas sensors that trigger a local alarm, such as a buzzer or LED indicator, when a leak is detected.</a:t>
            </a:r>
          </a:p>
          <a:p>
            <a:pPr marL="285750" indent="-285750">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These devices are commonly used in homes, hotels, and industries to warn people nearby, but they work only if someone is physically present to hear or see the alert. </a:t>
            </a:r>
          </a:p>
          <a:p>
            <a:pPr marL="285750" indent="-285750">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Some advanced systems can connect to automatic shut-off valves or activate exhaust fans, while a few smart-home models send notifications through SMS. </a:t>
            </a:r>
          </a:p>
          <a:p>
            <a:pPr marL="285750" indent="-285750">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However, most of these systems still do not provide real-time GPS location information, which makes it difficult to identify the exact place of the leak in large areas or when the user is away.</a:t>
            </a:r>
          </a:p>
          <a:p>
            <a:pPr marL="285750" indent="-285750">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This limitation highlights the need for a more advanced system that includes both leak detection and location-based.</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39478-3E47-E8BF-268D-1C6622453325}"/>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B002B947-FC61-EC0F-6AF4-A811E7C8B733}"/>
              </a:ext>
            </a:extLst>
          </p:cNvPr>
          <p:cNvSpPr txBox="1"/>
          <p:nvPr/>
        </p:nvSpPr>
        <p:spPr>
          <a:xfrm>
            <a:off x="271304" y="1002995"/>
            <a:ext cx="5576163" cy="461665"/>
          </a:xfrm>
          <a:prstGeom prst="rect">
            <a:avLst/>
          </a:prstGeom>
          <a:noFill/>
        </p:spPr>
        <p:txBody>
          <a:bodyPr wrap="square" rtlCol="0">
            <a:spAutoFit/>
          </a:bodyPr>
          <a:lstStyle/>
          <a:p>
            <a:pPr algn="just"/>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PROBLEM STATEMENT</a:t>
            </a:r>
          </a:p>
        </p:txBody>
      </p:sp>
      <p:pic>
        <p:nvPicPr>
          <p:cNvPr id="50"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25AA37E4-6E73-EA45-5618-0C40CDF5D5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25" y="0"/>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34">
            <a:extLst>
              <a:ext uri="{FF2B5EF4-FFF2-40B4-BE49-F238E27FC236}">
                <a16:creationId xmlns:a16="http://schemas.microsoft.com/office/drawing/2014/main" id="{D13F66A1-57BD-815A-8A21-D8C760EFA2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36" descr="Description: http://www.mkce.ac.in/wp-content/uploads/2018/02/footer-logo.png">
            <a:extLst>
              <a:ext uri="{FF2B5EF4-FFF2-40B4-BE49-F238E27FC236}">
                <a16:creationId xmlns:a16="http://schemas.microsoft.com/office/drawing/2014/main" id="{C589469B-6DB1-A5EC-DEB2-7F0214003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9889" y="170920"/>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596DA95-5CED-5AC8-EA06-5534F9287C1E}"/>
              </a:ext>
            </a:extLst>
          </p:cNvPr>
          <p:cNvSpPr txBox="1"/>
          <p:nvPr/>
        </p:nvSpPr>
        <p:spPr>
          <a:xfrm>
            <a:off x="945024" y="2096592"/>
            <a:ext cx="9319736" cy="253556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LPG gas is commonly used in homes, hotels, and industries, and even a small leak can lead to dangerous fire accidents. Most existing gas detectors only make a sound when a leak occurs, which is not helpful if no one is nearby to hear the alarm. To prevent such situations, there is a need for a smart system that can detect LPG leakage and immediately send a warning message to the user along with the GPS location of the leak. This helps the user or emergency services respond quickly and avoid major damage or accidents.</a:t>
            </a:r>
            <a:endParaRPr lang="en-US"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0740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6"/>
          <p:cNvSpPr txBox="1"/>
          <p:nvPr/>
        </p:nvSpPr>
        <p:spPr>
          <a:xfrm>
            <a:off x="589280" y="1628736"/>
            <a:ext cx="10444480" cy="3782061"/>
          </a:xfrm>
          <a:prstGeom prst="rect">
            <a:avLst/>
          </a:prstGeom>
          <a:noFill/>
        </p:spPr>
        <p:txBody>
          <a:bodyPr wrap="square" rtlCol="0">
            <a:spAutoFit/>
          </a:bodyPr>
          <a:lstStyle/>
          <a:p>
            <a:pPr marL="285750" indent="-285750">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The proposed system is a compact, smart LPG leakage detector that combines a gas sensor, GPS module, and wireless communication to provide real-time alerts with precise location information.</a:t>
            </a:r>
          </a:p>
          <a:p>
            <a:pPr marL="285750" indent="-285750">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The gas sensor continuously monitors LPG concentration and, when a dangerous level is detected, the system captures the device’s GPS coordinates and time stamp, sounds a local alarm (buzzer/LED), and sends an immediate notification to the owner or monitoring service via Wi-Fi or GSM/SMS. </a:t>
            </a:r>
          </a:p>
          <a:p>
            <a:pPr marL="285750" indent="-285750">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The device can also trigger safety actions such as closing an electric solenoid valve or logging the event to a cloud server for later review.</a:t>
            </a:r>
          </a:p>
          <a:p>
            <a:pPr marL="285750" indent="-285750">
              <a:lnSpc>
                <a:spcPct val="150000"/>
              </a:lnSpc>
              <a:buFont typeface="Wingdings" panose="05000000000000000000" charset="0"/>
              <a:buChar char="Ø"/>
            </a:pPr>
            <a:r>
              <a:rPr lang="en-US" dirty="0">
                <a:latin typeface="Times New Roman" panose="02020603050405020304" pitchFamily="18" charset="0"/>
                <a:cs typeface="Times New Roman" panose="02020603050405020304" pitchFamily="18" charset="0"/>
              </a:rPr>
              <a:t> Designed to be portable and low-cost, the system aims to improve response time and safety by ensuring that leak alerts are received even when no one is physically present at the site.</a:t>
            </a:r>
            <a:endParaRPr lang="en-US" alt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BC7F167-D366-B142-4631-A8A78D705CE9}"/>
              </a:ext>
            </a:extLst>
          </p:cNvPr>
          <p:cNvSpPr txBox="1"/>
          <p:nvPr/>
        </p:nvSpPr>
        <p:spPr>
          <a:xfrm>
            <a:off x="589280" y="1213297"/>
            <a:ext cx="6096000" cy="369332"/>
          </a:xfrm>
          <a:prstGeom prst="rect">
            <a:avLst/>
          </a:prstGeom>
          <a:noFill/>
        </p:spPr>
        <p:txBody>
          <a:bodyPr wrap="square">
            <a:spAutoFit/>
          </a:bodyPr>
          <a:lstStyle/>
          <a:p>
            <a:r>
              <a:rPr lang="en-US" b="1" dirty="0">
                <a:solidFill>
                  <a:srgbClr val="FF0000"/>
                </a:solidFill>
                <a:latin typeface="Times New Roman" panose="02020603050405020304" pitchFamily="18" charset="0"/>
                <a:cs typeface="Times New Roman" panose="02020603050405020304" pitchFamily="18" charset="0"/>
                <a:sym typeface="+mn-ea"/>
              </a:rPr>
              <a:t>PROPOSED SYSTEM</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9209" y="1172817"/>
            <a:ext cx="4532242" cy="461665"/>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BLOCK DIAGRAM</a:t>
            </a:r>
          </a:p>
        </p:txBody>
      </p:sp>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3515" y="79513"/>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04B9DCC-4B7C-14DE-5767-4D10B2D1EE34}"/>
              </a:ext>
            </a:extLst>
          </p:cNvPr>
          <p:cNvPicPr>
            <a:picLocks noChangeAspect="1"/>
          </p:cNvPicPr>
          <p:nvPr/>
        </p:nvPicPr>
        <p:blipFill>
          <a:blip r:embed="rId5"/>
          <a:stretch>
            <a:fillRect/>
          </a:stretch>
        </p:blipFill>
        <p:spPr>
          <a:xfrm>
            <a:off x="632722" y="1634482"/>
            <a:ext cx="10695061" cy="482466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210" y="365125"/>
            <a:ext cx="10943590" cy="1325880"/>
          </a:xfrm>
        </p:spPr>
        <p:txBody>
          <a:bodyPr>
            <a:normAutofit/>
          </a:bodyPr>
          <a:lstStyle/>
          <a:p>
            <a:br>
              <a:rPr lang="en-US" sz="2400" b="1">
                <a:solidFill>
                  <a:srgbClr val="FF0000"/>
                </a:solidFill>
                <a:latin typeface="Times New Roman" panose="02020603050405020304" pitchFamily="18" charset="0"/>
                <a:cs typeface="Times New Roman" panose="02020603050405020304" pitchFamily="18" charset="0"/>
              </a:rPr>
            </a:br>
            <a:br>
              <a:rPr lang="en-US" sz="2400" b="1">
                <a:solidFill>
                  <a:srgbClr val="FF0000"/>
                </a:solidFill>
                <a:latin typeface="Times New Roman" panose="02020603050405020304" pitchFamily="18" charset="0"/>
                <a:cs typeface="Times New Roman" panose="02020603050405020304" pitchFamily="18" charset="0"/>
              </a:rPr>
            </a:br>
            <a:r>
              <a:rPr lang="en-US" sz="2400" b="1">
                <a:solidFill>
                  <a:srgbClr val="FF0000"/>
                </a:solidFill>
                <a:latin typeface="Times New Roman" panose="02020603050405020304" pitchFamily="18" charset="0"/>
                <a:cs typeface="Times New Roman" panose="02020603050405020304" pitchFamily="18" charset="0"/>
              </a:rPr>
              <a:t>FLOWCHART</a:t>
            </a:r>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7830" y="79514"/>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FE82C29-AEFA-24CB-E682-9591985DAA3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8200" y="1691005"/>
            <a:ext cx="9929495" cy="439436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8745" y="1111885"/>
            <a:ext cx="3317875" cy="513080"/>
          </a:xfrm>
          <a:prstGeom prst="rect">
            <a:avLst/>
          </a:prstGeom>
          <a:noFill/>
        </p:spPr>
        <p:txBody>
          <a:bodyPr wrap="square" rtlCol="0">
            <a:noAutofit/>
          </a:bodyPr>
          <a:lstStyle/>
          <a:p>
            <a:r>
              <a:rPr lang="en-US" sz="2400" b="1" dirty="0">
                <a:solidFill>
                  <a:srgbClr val="FF0000"/>
                </a:solidFill>
                <a:latin typeface="Times New Roman" panose="02020603050405020304" pitchFamily="18" charset="0"/>
                <a:cs typeface="Times New Roman" panose="02020603050405020304" pitchFamily="18" charset="0"/>
              </a:rPr>
              <a:t>HARDWARE USED</a:t>
            </a:r>
          </a:p>
        </p:txBody>
      </p:sp>
      <p:pic>
        <p:nvPicPr>
          <p:cNvPr id="3"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505" y="635"/>
            <a:ext cx="2292350" cy="11118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5775" y="68580"/>
            <a:ext cx="1196340" cy="11601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0" y="128905"/>
            <a:ext cx="810260" cy="98361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2">
            <a:extLst>
              <a:ext uri="{FF2B5EF4-FFF2-40B4-BE49-F238E27FC236}">
                <a16:creationId xmlns:a16="http://schemas.microsoft.com/office/drawing/2014/main" id="{01C3B030-860F-D6C3-5F1A-87BC0A4E199F}"/>
              </a:ext>
            </a:extLst>
          </p:cNvPr>
          <p:cNvSpPr>
            <a:spLocks noChangeArrowheads="1"/>
          </p:cNvSpPr>
          <p:nvPr/>
        </p:nvSpPr>
        <p:spPr bwMode="auto">
          <a:xfrm>
            <a:off x="882097" y="1624965"/>
            <a:ext cx="9697164" cy="4544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MQ-2 Gas Sensor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Detects the presence and concentration of LPG gas in the air.</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ESP32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Acts as the main controller to read sensor values, process data, and send alerts.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GPS Module Neo-6M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real-time location coordinates when a gas leak is detected.</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GSM Module SIM900)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Sends SMS  and CALL alerts  notifications to the user.</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Buzzer</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Produces a loud alarm during gas leakage.</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LED Indicators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Shows system status such as power, connection, or leak detection.</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 12V</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Provides power to the controller and modules.</a:t>
            </a:r>
          </a:p>
          <a:p>
            <a:pPr marL="285750" marR="0" lvl="0" indent="-285750" algn="l" defTabSz="914400" rtl="0" eaLnBrk="0" fontAlgn="base" latinLnBrk="0" hangingPunct="0">
              <a:lnSpc>
                <a:spcPct val="2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Connecting Wires and Breadboard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Used for building and testing the circuit.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10845" y="1426845"/>
            <a:ext cx="3067050"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rPr>
              <a:t>SOFTWARE USED</a:t>
            </a:r>
          </a:p>
        </p:txBody>
      </p:sp>
      <p:sp>
        <p:nvSpPr>
          <p:cNvPr id="9" name="Rectangle 3">
            <a:extLst>
              <a:ext uri="{FF2B5EF4-FFF2-40B4-BE49-F238E27FC236}">
                <a16:creationId xmlns:a16="http://schemas.microsoft.com/office/drawing/2014/main" id="{4BDBE730-83E9-7553-75C9-9FE70FC95998}"/>
              </a:ext>
            </a:extLst>
          </p:cNvPr>
          <p:cNvSpPr>
            <a:spLocks noChangeArrowheads="1"/>
          </p:cNvSpPr>
          <p:nvPr/>
        </p:nvSpPr>
        <p:spPr bwMode="auto">
          <a:xfrm>
            <a:off x="1202708" y="2064592"/>
            <a:ext cx="7693196"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Arduino IDE</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to write, compile, and upload the program to the ESP32 microcontroller.</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Embedded C / C++</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language used to develop the system logic and sensor interface.</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ESP32 Board Manager (in Arduino IDE)</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Required to support ESP32 programming and library installation.</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a:t>
            </a:r>
            <a:r>
              <a:rPr lang="en-US" altLang="en-US" b="1" dirty="0">
                <a:latin typeface="Times New Roman" panose="02020603050405020304" pitchFamily="18" charset="0"/>
                <a:cs typeface="Times New Roman" panose="02020603050405020304" pitchFamily="18" charset="0"/>
              </a:rPr>
              <a:t>rcuit Designer</a:t>
            </a:r>
            <a:b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for simulating circuits, sensors, and testing the system virtually.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10845" y="1172845"/>
            <a:ext cx="3660140" cy="460375"/>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SIMULATION RESULTS</a:t>
            </a:r>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6BE2469-D8B2-71D5-B239-F930AF3139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7836" y="1800346"/>
            <a:ext cx="4534083" cy="4102679"/>
          </a:xfrm>
          <a:prstGeom prst="rect">
            <a:avLst/>
          </a:prstGeom>
        </p:spPr>
      </p:pic>
      <p:pic>
        <p:nvPicPr>
          <p:cNvPr id="8" name="Picture 7">
            <a:extLst>
              <a:ext uri="{FF2B5EF4-FFF2-40B4-BE49-F238E27FC236}">
                <a16:creationId xmlns:a16="http://schemas.microsoft.com/office/drawing/2014/main" id="{E277041D-F48A-33CE-D55C-B5EFD5A1B35C}"/>
              </a:ext>
            </a:extLst>
          </p:cNvPr>
          <p:cNvPicPr>
            <a:picLocks noChangeAspect="1"/>
          </p:cNvPicPr>
          <p:nvPr/>
        </p:nvPicPr>
        <p:blipFill>
          <a:blip r:embed="rId6"/>
          <a:stretch>
            <a:fillRect/>
          </a:stretch>
        </p:blipFill>
        <p:spPr>
          <a:xfrm>
            <a:off x="5917312" y="1403032"/>
            <a:ext cx="4618608" cy="499080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23286-D29D-FCF7-6661-B4E382CB9AF3}"/>
            </a:ext>
          </a:extLst>
        </p:cNvPr>
        <p:cNvGrpSpPr/>
        <p:nvPr/>
      </p:nvGrpSpPr>
      <p:grpSpPr>
        <a:xfrm>
          <a:off x="0" y="0"/>
          <a:ext cx="0" cy="0"/>
          <a:chOff x="0" y="0"/>
          <a:chExt cx="0" cy="0"/>
        </a:xfrm>
      </p:grpSpPr>
      <p:sp>
        <p:nvSpPr>
          <p:cNvPr id="2" name="Text Box 1">
            <a:extLst>
              <a:ext uri="{FF2B5EF4-FFF2-40B4-BE49-F238E27FC236}">
                <a16:creationId xmlns:a16="http://schemas.microsoft.com/office/drawing/2014/main" id="{EEA79059-C0EA-9A82-7CA7-5B7030F96002}"/>
              </a:ext>
            </a:extLst>
          </p:cNvPr>
          <p:cNvSpPr txBox="1"/>
          <p:nvPr/>
        </p:nvSpPr>
        <p:spPr>
          <a:xfrm>
            <a:off x="410845" y="1172845"/>
            <a:ext cx="3660140" cy="460375"/>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SIMULATION RESULTS</a:t>
            </a:r>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73AF2761-B0BE-574D-9128-E739C26824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a:extLst>
              <a:ext uri="{FF2B5EF4-FFF2-40B4-BE49-F238E27FC236}">
                <a16:creationId xmlns:a16="http://schemas.microsoft.com/office/drawing/2014/main" id="{A43430E5-D2D9-769C-8F17-34A07D4286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a:extLst>
              <a:ext uri="{FF2B5EF4-FFF2-40B4-BE49-F238E27FC236}">
                <a16:creationId xmlns:a16="http://schemas.microsoft.com/office/drawing/2014/main" id="{F625F639-63F5-3787-B9A0-193A761346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B2013509-614C-4349-11DA-A7A65578419E}"/>
              </a:ext>
            </a:extLst>
          </p:cNvPr>
          <p:cNvPicPr>
            <a:picLocks noChangeAspect="1"/>
          </p:cNvPicPr>
          <p:nvPr/>
        </p:nvPicPr>
        <p:blipFill>
          <a:blip r:embed="rId5"/>
          <a:stretch>
            <a:fillRect/>
          </a:stretch>
        </p:blipFill>
        <p:spPr>
          <a:xfrm>
            <a:off x="837002" y="1992122"/>
            <a:ext cx="4409392" cy="4114037"/>
          </a:xfrm>
          <a:prstGeom prst="rect">
            <a:avLst/>
          </a:prstGeom>
        </p:spPr>
      </p:pic>
      <p:pic>
        <p:nvPicPr>
          <p:cNvPr id="10" name="Picture 9">
            <a:extLst>
              <a:ext uri="{FF2B5EF4-FFF2-40B4-BE49-F238E27FC236}">
                <a16:creationId xmlns:a16="http://schemas.microsoft.com/office/drawing/2014/main" id="{315C0EC8-EA68-8CE2-B26A-54E5D3D66434}"/>
              </a:ext>
            </a:extLst>
          </p:cNvPr>
          <p:cNvPicPr>
            <a:picLocks noChangeAspect="1"/>
          </p:cNvPicPr>
          <p:nvPr/>
        </p:nvPicPr>
        <p:blipFill>
          <a:blip r:embed="rId6"/>
          <a:stretch>
            <a:fillRect/>
          </a:stretch>
        </p:blipFill>
        <p:spPr>
          <a:xfrm>
            <a:off x="5971036" y="1400224"/>
            <a:ext cx="4785370" cy="2313547"/>
          </a:xfrm>
          <a:prstGeom prst="rect">
            <a:avLst/>
          </a:prstGeom>
        </p:spPr>
      </p:pic>
      <p:pic>
        <p:nvPicPr>
          <p:cNvPr id="11" name="Picture 10">
            <a:extLst>
              <a:ext uri="{FF2B5EF4-FFF2-40B4-BE49-F238E27FC236}">
                <a16:creationId xmlns:a16="http://schemas.microsoft.com/office/drawing/2014/main" id="{63AD14AC-5767-D785-8C8F-2073A08A20DC}"/>
              </a:ext>
            </a:extLst>
          </p:cNvPr>
          <p:cNvPicPr>
            <a:picLocks noChangeAspect="1"/>
          </p:cNvPicPr>
          <p:nvPr/>
        </p:nvPicPr>
        <p:blipFill>
          <a:blip r:embed="rId7"/>
          <a:stretch>
            <a:fillRect/>
          </a:stretch>
        </p:blipFill>
        <p:spPr>
          <a:xfrm>
            <a:off x="5971036" y="3934964"/>
            <a:ext cx="4660406" cy="2647898"/>
          </a:xfrm>
          <a:prstGeom prst="rect">
            <a:avLst/>
          </a:prstGeom>
        </p:spPr>
      </p:pic>
    </p:spTree>
    <p:extLst>
      <p:ext uri="{BB962C8B-B14F-4D97-AF65-F5344CB8AC3E}">
        <p14:creationId xmlns:p14="http://schemas.microsoft.com/office/powerpoint/2010/main" val="130487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17805" y="1172845"/>
            <a:ext cx="4516755" cy="548005"/>
          </a:xfrm>
          <a:prstGeom prst="rect">
            <a:avLst/>
          </a:prstGeom>
          <a:noFill/>
        </p:spPr>
        <p:txBody>
          <a:bodyPr wrap="square" rtlCol="0">
            <a:noAutofit/>
          </a:bodyPr>
          <a:lstStyle/>
          <a:p>
            <a:r>
              <a:rPr lang="en-US" sz="2400" b="1" dirty="0">
                <a:solidFill>
                  <a:srgbClr val="FF0000"/>
                </a:solidFill>
                <a:latin typeface="Times New Roman" panose="02020603050405020304" pitchFamily="18" charset="0"/>
                <a:cs typeface="Times New Roman" panose="02020603050405020304" pitchFamily="18" charset="0"/>
              </a:rPr>
              <a:t>HARDWARE PROTOTYPE</a:t>
            </a:r>
          </a:p>
        </p:txBody>
      </p:sp>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3" y="253810"/>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1268936F-7DB8-2225-BF4E-925EE4B534D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6200000">
            <a:off x="3821433" y="-276862"/>
            <a:ext cx="4629150" cy="86245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505" y="635"/>
            <a:ext cx="2292350" cy="11118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5775" y="68580"/>
            <a:ext cx="1196340" cy="11601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0" y="128905"/>
            <a:ext cx="810260" cy="98361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510540" y="1388110"/>
            <a:ext cx="1707515"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rPr>
              <a:t>RESULTS</a:t>
            </a:r>
          </a:p>
        </p:txBody>
      </p:sp>
      <p:pic>
        <p:nvPicPr>
          <p:cNvPr id="9" name="Picture 8">
            <a:extLst>
              <a:ext uri="{FF2B5EF4-FFF2-40B4-BE49-F238E27FC236}">
                <a16:creationId xmlns:a16="http://schemas.microsoft.com/office/drawing/2014/main" id="{04B4C531-B6B0-FDD9-4D9D-310839ECC26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0540" y="2248535"/>
            <a:ext cx="5204460" cy="2067560"/>
          </a:xfrm>
          <a:prstGeom prst="rect">
            <a:avLst/>
          </a:prstGeom>
          <a:noFill/>
          <a:ln>
            <a:noFill/>
          </a:ln>
        </p:spPr>
      </p:pic>
      <p:pic>
        <p:nvPicPr>
          <p:cNvPr id="10" name="Picture 9">
            <a:extLst>
              <a:ext uri="{FF2B5EF4-FFF2-40B4-BE49-F238E27FC236}">
                <a16:creationId xmlns:a16="http://schemas.microsoft.com/office/drawing/2014/main" id="{4B5C3F93-0B0B-D232-85B7-6ECF225B135B}"/>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236970" y="2157730"/>
            <a:ext cx="5021580" cy="2158365"/>
          </a:xfrm>
          <a:prstGeom prst="rect">
            <a:avLst/>
          </a:prstGeom>
          <a:noFill/>
          <a:ln>
            <a:noFill/>
          </a:ln>
        </p:spPr>
      </p:pic>
      <p:sp>
        <p:nvSpPr>
          <p:cNvPr id="12" name="TextBox 11">
            <a:extLst>
              <a:ext uri="{FF2B5EF4-FFF2-40B4-BE49-F238E27FC236}">
                <a16:creationId xmlns:a16="http://schemas.microsoft.com/office/drawing/2014/main" id="{E048E646-437F-1C62-465A-47DC3407F927}"/>
              </a:ext>
            </a:extLst>
          </p:cNvPr>
          <p:cNvSpPr txBox="1"/>
          <p:nvPr/>
        </p:nvSpPr>
        <p:spPr>
          <a:xfrm>
            <a:off x="1438275" y="4609465"/>
            <a:ext cx="3257550" cy="369332"/>
          </a:xfrm>
          <a:prstGeom prst="rect">
            <a:avLst/>
          </a:prstGeom>
          <a:noFill/>
        </p:spPr>
        <p:txBody>
          <a:bodyPr wrap="square">
            <a:spAutoFit/>
          </a:bodyPr>
          <a:lstStyle/>
          <a:p>
            <a:r>
              <a:rPr lang="en-IN" sz="1800" b="1" dirty="0">
                <a:effectLst/>
                <a:latin typeface="Times New Roman" panose="02020603050405020304" pitchFamily="18" charset="0"/>
                <a:ea typeface="Times New Roman" panose="02020603050405020304" pitchFamily="18" charset="0"/>
              </a:rPr>
              <a:t>RESULT IN GAS LEAK</a:t>
            </a:r>
            <a:endParaRPr lang="en-IN" dirty="0"/>
          </a:p>
        </p:txBody>
      </p:sp>
      <p:sp>
        <p:nvSpPr>
          <p:cNvPr id="14" name="TextBox 13">
            <a:extLst>
              <a:ext uri="{FF2B5EF4-FFF2-40B4-BE49-F238E27FC236}">
                <a16:creationId xmlns:a16="http://schemas.microsoft.com/office/drawing/2014/main" id="{E401FDAC-F2B7-4B48-D550-EC23DE9A99AD}"/>
              </a:ext>
            </a:extLst>
          </p:cNvPr>
          <p:cNvSpPr txBox="1"/>
          <p:nvPr/>
        </p:nvSpPr>
        <p:spPr>
          <a:xfrm>
            <a:off x="6210935" y="4539734"/>
            <a:ext cx="6096000" cy="369332"/>
          </a:xfrm>
          <a:prstGeom prst="rect">
            <a:avLst/>
          </a:prstGeom>
          <a:noFill/>
        </p:spPr>
        <p:txBody>
          <a:bodyPr wrap="square">
            <a:spAutoFit/>
          </a:bodyPr>
          <a:lstStyle/>
          <a:p>
            <a:r>
              <a:rPr lang="en-IN" sz="1800" b="1" dirty="0">
                <a:effectLst/>
                <a:latin typeface="Times New Roman" panose="02020603050405020304" pitchFamily="18" charset="0"/>
                <a:ea typeface="Times New Roman" panose="02020603050405020304" pitchFamily="18" charset="0"/>
              </a:rPr>
              <a:t>RESULT IN GAS LEAK AND ESTIMATED LEAK</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505" y="635"/>
            <a:ext cx="2292350" cy="111188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5775" y="68580"/>
            <a:ext cx="1196340" cy="116014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0" y="128905"/>
            <a:ext cx="810260" cy="98361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703580" y="1860550"/>
            <a:ext cx="10619740" cy="3366563"/>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GPS Based LPG Leakage Notification System is designed to detect gas leaks quickly and alert users before any danger occurs. The images show a simulation of how LPG spreads inside a room and how sensors placed at different positions sense the gas levels. The colored heatmap represents the gas concentration, where brighter colors mean more gas and darker colors mean less. The green mark shows the actual place where the leak happens, and the red mark in the second image shows the system’s estimated leak location based on sensor readings. This simulation helps us understand how the system works in real life: when gas levels rise above a safe limit, the system immediately sends an alert with the user’s GPS location, ensuring quick action and improved safety.</a:t>
            </a:r>
            <a:endParaRPr lang="en-IN" dirty="0">
              <a:latin typeface="Times New Roman" panose="02020603050405020304" pitchFamily="18" charset="0"/>
              <a:cs typeface="Times New Roman" panose="02020603050405020304" pitchFamily="18" charset="0"/>
            </a:endParaRPr>
          </a:p>
        </p:txBody>
      </p:sp>
      <p:sp>
        <p:nvSpPr>
          <p:cNvPr id="4" name="Text Box 3"/>
          <p:cNvSpPr txBox="1"/>
          <p:nvPr/>
        </p:nvSpPr>
        <p:spPr>
          <a:xfrm>
            <a:off x="501015" y="1214755"/>
            <a:ext cx="2440305"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sym typeface="+mn-ea"/>
              </a:rPr>
              <a:t> DISCUSSION</a:t>
            </a:r>
            <a:endParaRPr lang="en-US" sz="2400"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91490" y="1339850"/>
            <a:ext cx="2604135"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rPr>
              <a:t>APPLICATIONS</a:t>
            </a:r>
          </a:p>
        </p:txBody>
      </p:sp>
      <p:sp>
        <p:nvSpPr>
          <p:cNvPr id="5" name="Text Box 4"/>
          <p:cNvSpPr txBox="1"/>
          <p:nvPr/>
        </p:nvSpPr>
        <p:spPr>
          <a:xfrm>
            <a:off x="1918970" y="2246630"/>
            <a:ext cx="8393430" cy="212006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Used in homes, apartments, and kitchens to prevent fire accidents.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Suitable for hotels, restaurants, and commercial cooking areas.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Can be installed in gas stations, LPG storage units, and industrial plants.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Useful for smart home automation and IoT safety systems.</a:t>
            </a: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Deployed in transport vehicles carrying LPG cylinders for live monitoring.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
          <p:cNvSpPr txBox="1"/>
          <p:nvPr/>
        </p:nvSpPr>
        <p:spPr>
          <a:xfrm>
            <a:off x="410209" y="1366151"/>
            <a:ext cx="2662555" cy="460375"/>
          </a:xfrm>
          <a:prstGeom prst="rect">
            <a:avLst/>
          </a:prstGeom>
          <a:noFill/>
        </p:spPr>
        <p:txBody>
          <a:bodyPr wrap="square" rtlCol="0">
            <a:spAutoFit/>
          </a:bodyPr>
          <a:lstStyle/>
          <a:p>
            <a:r>
              <a:rPr lang="en-US" sz="2400" b="1" dirty="0">
                <a:solidFill>
                  <a:srgbClr val="FF0000"/>
                </a:solidFill>
                <a:latin typeface="Times New Roman" panose="02020603050405020304" pitchFamily="18" charset="0"/>
                <a:cs typeface="Times New Roman" panose="02020603050405020304" pitchFamily="18" charset="0"/>
              </a:rPr>
              <a:t>ADVANTAGES</a:t>
            </a:r>
          </a:p>
        </p:txBody>
      </p:sp>
      <p:sp>
        <p:nvSpPr>
          <p:cNvPr id="11" name="Rectangle 3">
            <a:extLst>
              <a:ext uri="{FF2B5EF4-FFF2-40B4-BE49-F238E27FC236}">
                <a16:creationId xmlns:a16="http://schemas.microsoft.com/office/drawing/2014/main" id="{8990EBF4-2EBE-1E5C-9A72-444BCB789BCD}"/>
              </a:ext>
            </a:extLst>
          </p:cNvPr>
          <p:cNvSpPr>
            <a:spLocks noChangeArrowheads="1"/>
          </p:cNvSpPr>
          <p:nvPr/>
        </p:nvSpPr>
        <p:spPr bwMode="auto">
          <a:xfrm>
            <a:off x="1741487" y="2266709"/>
            <a:ext cx="8100948" cy="2535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detection of LPG leakage using MQ-2 sensor.</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Sends instant SMS, call alerts, and location using GSM &amp; GPS.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accurate leak location for quick emergency response.</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portable, and easy to install and maintain.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safety, prevents accidents, and protects life and property.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Works even when the user is far away, improving reliability.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782BD-F5C5-7CE8-4BAD-26EC411E1F42}"/>
            </a:ext>
          </a:extLst>
        </p:cNvPr>
        <p:cNvGrpSpPr/>
        <p:nvPr/>
      </p:nvGrpSpPr>
      <p:grpSpPr>
        <a:xfrm>
          <a:off x="0" y="0"/>
          <a:ext cx="0" cy="0"/>
          <a:chOff x="0" y="0"/>
          <a:chExt cx="0" cy="0"/>
        </a:xfrm>
      </p:grpSpPr>
      <p:pic>
        <p:nvPicPr>
          <p:cNvPr id="2" name="Picture 1299661501" descr="Description: https://lh7-rt.googleusercontent.com/docsz/AD_4nXdNWgd8L1yM0yIl5204lKo5liUQQp0H1w96Qwbzsr6ouaCbMToBdtZ6RkrS-AXq1iTIJ74qRKIcH-bBt1Y8xPb9szF7BVdO9payLvyo1Ll9y80En7U2QaS6uHO6vw6B1irbRBJo4YWc2m_17IaKMTw?key=jhIH52jZ2vDapWCZ9KzmRH_U">
            <a:extLst>
              <a:ext uri="{FF2B5EF4-FFF2-40B4-BE49-F238E27FC236}">
                <a16:creationId xmlns:a16="http://schemas.microsoft.com/office/drawing/2014/main" id="{830054F9-0050-8FD0-3B9E-6DCBF4C8CA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34">
            <a:extLst>
              <a:ext uri="{FF2B5EF4-FFF2-40B4-BE49-F238E27FC236}">
                <a16:creationId xmlns:a16="http://schemas.microsoft.com/office/drawing/2014/main" id="{8B022D64-7DB2-53BE-21DA-9B983A51B8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a:extLst>
              <a:ext uri="{FF2B5EF4-FFF2-40B4-BE49-F238E27FC236}">
                <a16:creationId xmlns:a16="http://schemas.microsoft.com/office/drawing/2014/main" id="{6FA2816A-7AE0-C42C-104E-5506320B68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6406" y="79513"/>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6">
            <a:extLst>
              <a:ext uri="{FF2B5EF4-FFF2-40B4-BE49-F238E27FC236}">
                <a16:creationId xmlns:a16="http://schemas.microsoft.com/office/drawing/2014/main" id="{EAE034A6-63CB-43AA-E6A9-8ADDCD73BD26}"/>
              </a:ext>
            </a:extLst>
          </p:cNvPr>
          <p:cNvSpPr txBox="1"/>
          <p:nvPr/>
        </p:nvSpPr>
        <p:spPr>
          <a:xfrm>
            <a:off x="751315" y="1489771"/>
            <a:ext cx="2343150" cy="895985"/>
          </a:xfrm>
          <a:prstGeom prst="rect">
            <a:avLst/>
          </a:prstGeom>
          <a:noFill/>
        </p:spPr>
        <p:txBody>
          <a:bodyPr wrap="square" rtlCol="0">
            <a:noAutofit/>
          </a:bodyPr>
          <a:lstStyle/>
          <a:p>
            <a:r>
              <a:rPr lang="en-US" sz="2400" b="1" dirty="0">
                <a:solidFill>
                  <a:srgbClr val="FF0000"/>
                </a:solidFill>
                <a:latin typeface="Times New Roman" panose="02020603050405020304" pitchFamily="18" charset="0"/>
                <a:cs typeface="Times New Roman" panose="02020603050405020304" pitchFamily="18" charset="0"/>
              </a:rPr>
              <a:t>LIMITATIONS</a:t>
            </a:r>
          </a:p>
        </p:txBody>
      </p:sp>
      <p:sp>
        <p:nvSpPr>
          <p:cNvPr id="12" name="Rectangle 4">
            <a:extLst>
              <a:ext uri="{FF2B5EF4-FFF2-40B4-BE49-F238E27FC236}">
                <a16:creationId xmlns:a16="http://schemas.microsoft.com/office/drawing/2014/main" id="{B19E7D6E-ABEF-04E8-CE85-79A2F8A15FD3}"/>
              </a:ext>
            </a:extLst>
          </p:cNvPr>
          <p:cNvSpPr>
            <a:spLocks noChangeArrowheads="1"/>
          </p:cNvSpPr>
          <p:nvPr/>
        </p:nvSpPr>
        <p:spPr bwMode="auto">
          <a:xfrm>
            <a:off x="1892946" y="2385756"/>
            <a:ext cx="7423892" cy="2120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Sensor accuracy may be affected by humidity, dust, and airflow conditions.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GSM signals may be weak in remote or underground areas, causing delay.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GPS location may be inaccurate in indoor or closed spaces.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Requires a stable power supply or battery backup to function continuously.</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may generate false alarms if not properly calibrated.</a:t>
            </a:r>
          </a:p>
        </p:txBody>
      </p:sp>
    </p:spTree>
    <p:extLst>
      <p:ext uri="{BB962C8B-B14F-4D97-AF65-F5344CB8AC3E}">
        <p14:creationId xmlns:p14="http://schemas.microsoft.com/office/powerpoint/2010/main" val="1253179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586" y="467287"/>
            <a:ext cx="1817624" cy="1325563"/>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OUTCOME</a:t>
            </a:r>
          </a:p>
        </p:txBody>
      </p:sp>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248" y="15624"/>
            <a:ext cx="1817624" cy="86712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8782" y="15624"/>
            <a:ext cx="884738" cy="80875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71716" y="0"/>
            <a:ext cx="514457" cy="6400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F8115EF-717A-D3AC-4E19-36AD7872C61F}"/>
              </a:ext>
            </a:extLst>
          </p:cNvPr>
          <p:cNvPicPr>
            <a:picLocks noChangeAspect="1"/>
          </p:cNvPicPr>
          <p:nvPr/>
        </p:nvPicPr>
        <p:blipFill>
          <a:blip r:embed="rId5"/>
          <a:stretch>
            <a:fillRect/>
          </a:stretch>
        </p:blipFill>
        <p:spPr>
          <a:xfrm>
            <a:off x="805892" y="1800508"/>
            <a:ext cx="5557628" cy="4590205"/>
          </a:xfrm>
          <a:prstGeom prst="rect">
            <a:avLst/>
          </a:prstGeom>
        </p:spPr>
      </p:pic>
      <p:sp>
        <p:nvSpPr>
          <p:cNvPr id="7" name="TextBox 6">
            <a:extLst>
              <a:ext uri="{FF2B5EF4-FFF2-40B4-BE49-F238E27FC236}">
                <a16:creationId xmlns:a16="http://schemas.microsoft.com/office/drawing/2014/main" id="{EE0760DA-F123-B808-6776-A01BEC4C0A7F}"/>
              </a:ext>
            </a:extLst>
          </p:cNvPr>
          <p:cNvSpPr txBox="1"/>
          <p:nvPr/>
        </p:nvSpPr>
        <p:spPr>
          <a:xfrm>
            <a:off x="1994229" y="1352409"/>
            <a:ext cx="2905125"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ACCEPTANCE LETTER </a:t>
            </a:r>
            <a:endParaRPr lang="en-IN" dirty="0"/>
          </a:p>
        </p:txBody>
      </p:sp>
      <p:sp>
        <p:nvSpPr>
          <p:cNvPr id="9" name="TextBox 8">
            <a:extLst>
              <a:ext uri="{FF2B5EF4-FFF2-40B4-BE49-F238E27FC236}">
                <a16:creationId xmlns:a16="http://schemas.microsoft.com/office/drawing/2014/main" id="{DB1F2E73-90B6-FBBF-3C7F-49FAFA8D0BF6}"/>
              </a:ext>
            </a:extLst>
          </p:cNvPr>
          <p:cNvSpPr txBox="1"/>
          <p:nvPr/>
        </p:nvSpPr>
        <p:spPr>
          <a:xfrm>
            <a:off x="7810500" y="1242681"/>
            <a:ext cx="2695575"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PAYMENT PROOF </a:t>
            </a:r>
            <a:endParaRPr lang="en-IN" dirty="0"/>
          </a:p>
        </p:txBody>
      </p:sp>
      <p:pic>
        <p:nvPicPr>
          <p:cNvPr id="12" name="Picture 11">
            <a:extLst>
              <a:ext uri="{FF2B5EF4-FFF2-40B4-BE49-F238E27FC236}">
                <a16:creationId xmlns:a16="http://schemas.microsoft.com/office/drawing/2014/main" id="{07F7A636-EFB5-42F2-54C0-E5CA4038D4E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47609" y="1756274"/>
            <a:ext cx="4450085" cy="2422534"/>
          </a:xfrm>
          <a:prstGeom prst="rect">
            <a:avLst/>
          </a:prstGeom>
        </p:spPr>
      </p:pic>
      <p:pic>
        <p:nvPicPr>
          <p:cNvPr id="14" name="Picture 13">
            <a:extLst>
              <a:ext uri="{FF2B5EF4-FFF2-40B4-BE49-F238E27FC236}">
                <a16:creationId xmlns:a16="http://schemas.microsoft.com/office/drawing/2014/main" id="{CAE5D13C-D402-02A9-1082-6F30B4A59EE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70405" y="4537575"/>
            <a:ext cx="4004494" cy="147917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955" y="79513"/>
            <a:ext cx="2292350" cy="109359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6" descr="Description: http://www.mkce.ac.in/wp-content/uploads/2018/02/footer-log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8293" y="253810"/>
            <a:ext cx="810258" cy="1008112"/>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375920" y="1359535"/>
            <a:ext cx="2757170" cy="460375"/>
          </a:xfrm>
          <a:prstGeom prst="rect">
            <a:avLst/>
          </a:prstGeom>
          <a:noFill/>
        </p:spPr>
        <p:txBody>
          <a:bodyPr wrap="square" rtlCol="0">
            <a:spAutoFit/>
          </a:bodyPr>
          <a:lstStyle/>
          <a:p>
            <a:r>
              <a:rPr lang="en-US" sz="2400" b="1">
                <a:solidFill>
                  <a:srgbClr val="FF0000"/>
                </a:solidFill>
                <a:latin typeface="Times New Roman" panose="02020603050405020304" pitchFamily="18" charset="0"/>
                <a:cs typeface="Times New Roman" panose="02020603050405020304" pitchFamily="18" charset="0"/>
              </a:rPr>
              <a:t>FUTURE SCOPE</a:t>
            </a:r>
          </a:p>
        </p:txBody>
      </p:sp>
      <p:sp>
        <p:nvSpPr>
          <p:cNvPr id="3" name="Text Box 2"/>
          <p:cNvSpPr txBox="1"/>
          <p:nvPr/>
        </p:nvSpPr>
        <p:spPr>
          <a:xfrm>
            <a:off x="1123950" y="2006334"/>
            <a:ext cx="9944100" cy="4202882"/>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The proposed LPG leakage detection system can be further improved by integrating cloud-based IoT platforms for real-time data logging, remote monitoring, and long-term safety analytics. Mobile applications can be developed to provide instant alerts, system status, and historical data directly to users’ smartphones. The system can be enhanced with automatic gas valve shut-off mechanisms to immediately stop leakage at its source. AI-based prediction models can be added to analyze gas levels and predict potential leakage risks before they occur. Additional sensors such as temperature and smoke detectors can be included to create a complete multi-hazard safety system. The device can also be made more compact, power-efficient, and battery-operated for improved portability and reliability during power failures. With further development, the system can be integrated into smart home and industrial automation networks to build a fully intelligent safety infrastructure.</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932896" y="1451130"/>
            <a:ext cx="10140445" cy="4387740"/>
          </a:xfrm>
          <a:prstGeom prst="rect">
            <a:avLst/>
          </a:prstGeom>
          <a:noFill/>
        </p:spPr>
        <p:txBody>
          <a:bodyPr wrap="square">
            <a:spAutoFit/>
          </a:bodyPr>
          <a:lstStyle/>
          <a:p>
            <a:pPr>
              <a:lnSpc>
                <a:spcPct val="15000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CONCLUSION</a:t>
            </a:r>
            <a:endParaRPr lang="en-US" sz="32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a:p>
            <a:pPr algn="just">
              <a:lnSpc>
                <a:spcPct val="150000"/>
              </a:lnSpc>
            </a:pPr>
            <a:r>
              <a:rPr lang="en-US" sz="2000" dirty="0">
                <a:latin typeface="Times New Roman" panose="02020603050405020304" pitchFamily="18" charset="0"/>
                <a:cs typeface="Times New Roman" panose="02020603050405020304" pitchFamily="18" charset="0"/>
              </a:rPr>
              <a:t>	</a:t>
            </a:r>
          </a:p>
          <a:p>
            <a:pPr algn="just">
              <a:lnSpc>
                <a:spcPct val="150000"/>
              </a:lnSpc>
            </a:pPr>
            <a:r>
              <a:rPr lang="en-US" dirty="0">
                <a:latin typeface="Times New Roman" panose="02020603050405020304" pitchFamily="18" charset="0"/>
                <a:cs typeface="Times New Roman" panose="02020603050405020304" pitchFamily="18" charset="0"/>
              </a:rPr>
              <a:t>The GPS-based LPG Leakage Notification System provides an effective solution for detecting dangerous gas leaks and alerting users in real time. By combining a gas sensor with GPS tracking and wireless communication, the system ensures that the exact location of a leak is immediately known, allowing quick action to prevent accidents. It not only triggers local alarms like buzzers and LEDs but also sends notifications via Wi-Fi or GSM, making it useful even when the user is away. This smart system improves safety in homes, industries, and commercial spaces, reduces the risk of fire accidents, and offers a reliable, low-cost, and easy-to-use solution for LPG leak detection.</a:t>
            </a:r>
            <a:endParaRPr lang="en-US" sz="16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a:p>
            <a:pPr>
              <a:lnSpc>
                <a:spcPct val="150000"/>
              </a:lnSpc>
            </a:pPr>
            <a:endParaRPr lang="en-US" sz="16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pic>
        <p:nvPicPr>
          <p:cNvPr id="3"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9" name="Picture 36" descr="Description: http://www.mkce.ac.in/wp-content/uploads/2018/02/footer-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293" y="272098"/>
            <a:ext cx="810258" cy="100811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1299661501" descr="Description: https://lh7-rt.googleusercontent.com/docsz/AD_4nXdNWgd8L1yM0yIl5204lKo5liUQQp0H1w96Qwbzsr6ouaCbMToBdtZ6RkrS-AXq1iTIJ74qRKIcH-bBt1Y8xPb9szF7BVdO9payLvyo1Ll9y80En7U2QaS6uHO6vw6B1irbRBJo4YWc2m_17IaKMTw?key=jhIH52jZ2vDapWCZ9KzmRH_U"/>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72098"/>
            <a:ext cx="2292350" cy="109359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5" name="Rectangle 5"/>
          <p:cNvSpPr>
            <a:spLocks noChangeArrowheads="1"/>
          </p:cNvSpPr>
          <p:nvPr/>
        </p:nvSpPr>
        <p:spPr bwMode="auto">
          <a:xfrm>
            <a:off x="-45085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IN"/>
          </a:p>
        </p:txBody>
      </p:sp>
      <p:sp>
        <p:nvSpPr>
          <p:cNvPr id="2" name="TextBox 1"/>
          <p:cNvSpPr txBox="1"/>
          <p:nvPr/>
        </p:nvSpPr>
        <p:spPr>
          <a:xfrm>
            <a:off x="157480" y="803910"/>
            <a:ext cx="2226945" cy="1430020"/>
          </a:xfrm>
          <a:prstGeom prst="rect">
            <a:avLst/>
          </a:prstGeom>
          <a:noFill/>
        </p:spPr>
        <p:txBody>
          <a:bodyPr wrap="square">
            <a:noAutofit/>
          </a:bodyPr>
          <a:lstStyle/>
          <a:p>
            <a:pPr>
              <a:lnSpc>
                <a:spcPts val="7940"/>
              </a:lnSpc>
            </a:pPr>
            <a:r>
              <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rPr>
              <a:t>REFERENCE</a:t>
            </a:r>
          </a:p>
          <a:p>
            <a:pPr>
              <a:lnSpc>
                <a:spcPts val="7940"/>
              </a:lnSpc>
            </a:pPr>
            <a:endParaRPr lang="en-US" sz="2400" b="1" dirty="0">
              <a:solidFill>
                <a:srgbClr val="FF0000"/>
              </a:solidFill>
              <a:latin typeface="Times New Roman" panose="02020603050405020304" pitchFamily="18" charset="0"/>
              <a:ea typeface="League Spartan"/>
              <a:cs typeface="Times New Roman" panose="02020603050405020304" pitchFamily="18" charset="0"/>
              <a:sym typeface="League Spartan"/>
            </a:endParaRPr>
          </a:p>
        </p:txBody>
      </p:sp>
      <p:sp>
        <p:nvSpPr>
          <p:cNvPr id="3" name="Rectangle 1"/>
          <p:cNvSpPr>
            <a:spLocks noChangeArrowheads="1"/>
          </p:cNvSpPr>
          <p:nvPr/>
        </p:nvSpPr>
        <p:spPr bwMode="auto">
          <a:xfrm rot="10800000" flipV="1">
            <a:off x="530225" y="2109470"/>
            <a:ext cx="10826750" cy="4347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R="0" lvl="0" indent="0" algn="just" defTabSz="914400" rtl="0" eaLnBrk="0" fontAlgn="base" latinLnBrk="0" hangingPunct="0">
              <a:lnSpc>
                <a:spcPct val="150000"/>
              </a:lnSpc>
              <a:spcBef>
                <a:spcPct val="0"/>
              </a:spcBef>
              <a:spcAft>
                <a:spcPct val="0"/>
              </a:spcAft>
              <a:buClrTx/>
              <a:buSzTx/>
              <a:buFont typeface="Wingdings" panose="05000000000000000000" pitchFamily="2" charset="2"/>
              <a:buNone/>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rot="10800000" flipV="1">
            <a:off x="530860" y="2110105"/>
            <a:ext cx="11039475" cy="3996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R="0" lvl="0" indent="0" algn="just" defTabSz="914400" rtl="0" eaLnBrk="0" fontAlgn="base" latinLnBrk="0" hangingPunct="0">
              <a:lnSpc>
                <a:spcPct val="150000"/>
              </a:lnSpc>
              <a:spcBef>
                <a:spcPct val="0"/>
              </a:spcBef>
              <a:spcAft>
                <a:spcPct val="0"/>
              </a:spcAft>
              <a:buClrTx/>
              <a:buSzTx/>
              <a:buFont typeface="Wingdings" panose="05000000000000000000" pitchFamily="2" charset="2"/>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Text Box 6"/>
          <p:cNvSpPr txBox="1"/>
          <p:nvPr/>
        </p:nvSpPr>
        <p:spPr>
          <a:xfrm>
            <a:off x="621665" y="1749426"/>
            <a:ext cx="11397615" cy="4707255"/>
          </a:xfrm>
          <a:prstGeom prst="rect">
            <a:avLst/>
          </a:prstGeom>
          <a:noFill/>
        </p:spPr>
        <p:txBody>
          <a:bodyPr wrap="square" rtlCol="0">
            <a:noAutofit/>
          </a:bodyPr>
          <a:lstStyle/>
          <a:p>
            <a:pPr marL="285750" lvl="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Rachana S, Pavitra D.R, </a:t>
            </a:r>
            <a:r>
              <a:rPr lang="en-US" dirty="0" err="1">
                <a:latin typeface="Times New Roman" panose="02020603050405020304" pitchFamily="18" charset="0"/>
                <a:cs typeface="Times New Roman" panose="02020603050405020304" pitchFamily="18" charset="0"/>
              </a:rPr>
              <a:t>Smayana</a:t>
            </a:r>
            <a:r>
              <a:rPr lang="en-US" dirty="0">
                <a:latin typeface="Times New Roman" panose="02020603050405020304" pitchFamily="18" charset="0"/>
                <a:cs typeface="Times New Roman" panose="02020603050405020304" pitchFamily="18" charset="0"/>
              </a:rPr>
              <a:t> N.P, M.G. Veena, "Sentinel LPG Leakage Detection System with Automatic Regulator", 2025 IEEE International Conference on Interdisciplinary Approaches in Technology and Management for Social Innovation (IATMSI), vol.3, pp.1-5, 2025.</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Kavitha D, Rajavarshini R U, Nivedha J, Ragavi R, Sumathi S, "IoT-Enabled Proactive LPG gas Surveillance and Alert System", 2025 International Conference on Computing and Communication Technologies (ICCCT), pp.1-6, 2025.</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Ahmed, Saad, Md Jubayer Rahman, and Md Abdur Razzak. “Design and Development of an IoT -Based LPG Gas Leakage Detector for Households and Industries.” 2023 IEEE World AI IoT Congress (</a:t>
            </a:r>
            <a:r>
              <a:rPr lang="en-US" dirty="0" err="1">
                <a:latin typeface="Times New Roman" panose="02020603050405020304" pitchFamily="18" charset="0"/>
                <a:cs typeface="Times New Roman" panose="02020603050405020304" pitchFamily="18" charset="0"/>
              </a:rPr>
              <a:t>AIIoT</a:t>
            </a:r>
            <a:r>
              <a:rPr lang="en-US" dirty="0">
                <a:latin typeface="Times New Roman" panose="02020603050405020304" pitchFamily="18" charset="0"/>
                <a:cs typeface="Times New Roman" panose="02020603050405020304" pitchFamily="18" charset="0"/>
              </a:rPr>
              <a:t>). IEEE, 2023.</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Mayur Shinde, Harshal Pawar, Mayank </a:t>
            </a:r>
            <a:r>
              <a:rPr lang="en-US" dirty="0" err="1">
                <a:latin typeface="Times New Roman" panose="02020603050405020304" pitchFamily="18" charset="0"/>
                <a:cs typeface="Times New Roman" panose="02020603050405020304" pitchFamily="18" charset="0"/>
              </a:rPr>
              <a:t>Sethiya</a:t>
            </a:r>
            <a:r>
              <a:rPr lang="en-US" dirty="0">
                <a:latin typeface="Times New Roman" panose="02020603050405020304" pitchFamily="18" charset="0"/>
                <a:cs typeface="Times New Roman" panose="02020603050405020304" pitchFamily="18" charset="0"/>
              </a:rPr>
              <a:t>, Vibhavari Joshi, Chaitanya Joshi, Pallavi Deshpande, "CNG/LPG Gas Leakage Accident Prevention System", 2024 3rd International Conference on Automation, Computing and Renewable Systems (ICACRS), pp.262-267, 2024.</a:t>
            </a:r>
            <a:endParaRPr lang="en-IN"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p:txBody>
      </p:sp>
      <p:pic>
        <p:nvPicPr>
          <p:cNvPr id="8"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4892" y="85435"/>
            <a:ext cx="1196340" cy="109359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1841</Words>
  <Application>Microsoft Office PowerPoint</Application>
  <PresentationFormat>Widescreen</PresentationFormat>
  <Paragraphs>88</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Times New Roman</vt:lpstr>
      <vt:lpstr>Wingdings</vt:lpstr>
      <vt:lpstr>Office Theme</vt:lpstr>
      <vt:lpstr>PowerPoint Presentation</vt:lpstr>
      <vt:lpstr>PowerPoint Presentation</vt:lpstr>
      <vt:lpstr>   OBJECTIVE </vt:lpstr>
      <vt:lpstr>  SCOPE OF THE PROJECT</vt:lpstr>
      <vt:lpstr>PowerPoint Presentation</vt:lpstr>
      <vt:lpstr>PowerPoint Presentation</vt:lpstr>
      <vt:lpstr>PowerPoint Presentation</vt:lpstr>
      <vt:lpstr>PowerPoint Presentation</vt:lpstr>
      <vt:lpstr>PowerPoint Presentation</vt:lpstr>
      <vt:lpstr>  FLOWCHART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OUTCOME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Dr.D. Mercy</dc:creator>
  <cp:lastModifiedBy>DINESH S</cp:lastModifiedBy>
  <cp:revision>26</cp:revision>
  <dcterms:created xsi:type="dcterms:W3CDTF">2025-08-26T04:28:00Z</dcterms:created>
  <dcterms:modified xsi:type="dcterms:W3CDTF">2026-06-19T05:42:19Z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88D9EEBF520146BCB26A52DB7B39B592_13</vt:lpwstr>
  </property>
  <property fmtid="{D5CDD505-2E9C-101B-9397-08002B2CF9AE}" pid="3" name="KSOProductBuildVer">
    <vt:lpwstr>1033-12.2.0.23155</vt:lpwstr>
  </property>
</Properties>
</file>